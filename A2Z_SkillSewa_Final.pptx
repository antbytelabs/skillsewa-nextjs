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B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2B5E"/>
                </a:solidFill>
                <a:latin typeface="Arial"/>
              </a:rPr>
              <a:t>Revenue Projection (Rs. '000s)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(Rs. '000)</c:v>
                </c:pt>
              </c:strCache>
            </c:strRef>
          </c:tx>
          <c:spPr>
            <a:solidFill>
              <a:srgbClr val="42A5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B5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47A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Pilot 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Year 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65</c:v>
                </c:pt>
                <c:pt idx="2">
                  <c:v>180</c:v>
                </c:pt>
                <c:pt idx="3">
                  <c:v>380</c:v>
                </c:pt>
                <c:pt idx="4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E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7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99632" y="27432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59752" y="27432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9872" y="27432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9632" y="123444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59752" y="123444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123444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219456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59752" y="219456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19872" y="219456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315468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315468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315468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411480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9752" y="411480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4114800"/>
            <a:ext cx="804672" cy="804672"/>
          </a:xfrm>
          <a:prstGeom prst="rect">
            <a:avLst/>
          </a:prstGeom>
          <a:solidFill>
            <a:srgbClr val="1E4080">
              <a:alpha val="50000"/>
            </a:srgbClr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57200"/>
            <a:ext cx="1188720" cy="11887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676656" cy="6766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874520" y="347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A2Z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1874520" y="868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Skill-Sewa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1874520" y="1444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सेवा · Skill · Service  |  A to Z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1938528"/>
            <a:ext cx="534924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206654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Local Manpower Connector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57200" y="257860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every skilled professional — A to Z — with customers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Kathmandu Valley, powered by AI.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401568"/>
            <a:ext cx="118872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57200" y="34381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26+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57200" y="37398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1810512" y="3401568"/>
            <a:ext cx="118872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810512" y="34381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3-Party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810512" y="37398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163824" y="3401568"/>
            <a:ext cx="118872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163824" y="34381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3163824" y="37398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517136" y="3401568"/>
            <a:ext cx="118872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517136" y="34381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4517136" y="37398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Fund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291072" y="1188720"/>
            <a:ext cx="2560320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91072" y="1216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LAUNCH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291072" y="1691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Kathmandu Valley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382512" y="2423160"/>
            <a:ext cx="2377440" cy="34747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82512" y="24414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 PROGRESS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291072" y="2926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skillsewa-fe.vercel.app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1480" y="45262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Stakeholder Presentation  |  Kathmandu, Nepal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Vision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— and why it matters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2344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73152" cy="12344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813816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become Nepal's most trusted AI-powered service ecosystem — empowering every skilled worker from A to Z, connecting communities, and transforming informal labor into dignified, traceable, and rewarding careers."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6888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68880"/>
            <a:ext cx="2697480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606040"/>
            <a:ext cx="475488" cy="4754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9768" y="3163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Workers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9768" y="35478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informal gig workers to verified, graded professionals — with insurance-backed bonus funds and a clear career growth path from individual to company.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172968" y="246888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2468880"/>
            <a:ext cx="269748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606040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82696" y="3163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Matching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282696" y="35478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describe problems in plain Nepali or English. AI instantly classifies, matches, and books the right professional nearby.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25896" y="246888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25896" y="2468880"/>
            <a:ext cx="269748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2606040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35624" y="3163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Nationally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135624" y="35478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Kathmandu Valley as a controlled pilot, then expand across Nepal and South Asia where no unified A-to-Z platform exists yet.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2 of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We Are Solving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sides. One broken system. One solution.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069080" cy="4572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88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Customer Pain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664208"/>
            <a:ext cx="182880" cy="1828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276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find verified local workers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" y="2194560"/>
            <a:ext cx="182880" cy="1828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579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describe technical problems clearly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2724912"/>
            <a:ext cx="182880" cy="1828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883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overcharging and poor quality 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3255264"/>
            <a:ext cx="182880" cy="1828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186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past service or worker history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" y="3785616"/>
            <a:ext cx="182880" cy="1828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49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hours or days for a simple repair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4069080" cy="4572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088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Worker Pain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19472" y="1664208"/>
            <a:ext cx="182880" cy="1828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6276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income with zero financial safety net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9472" y="2194560"/>
            <a:ext cx="182880" cy="1828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1579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to build reputation or showcase skills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19472" y="2724912"/>
            <a:ext cx="182880" cy="1828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6883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access to social security or insurance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9472" y="3255264"/>
            <a:ext cx="182880" cy="1828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2186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entirely on word-of-mouth for work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9472" y="3785616"/>
            <a:ext cx="182880" cy="1828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749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career growth path — informal forever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06240" y="2606040"/>
            <a:ext cx="731520" cy="731520"/>
          </a:xfrm>
          <a:prstGeom prst="ellipse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06240" y="262432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3 of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 — A2Z Skill-Sewa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5943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A to Z skills. The right professional — instantly.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7249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54864" cy="13441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224028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9385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Problem Detection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228600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speak, or photo your issue in Nepali or English. AI understands and classifies the service needed in seconds.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72968" y="1828800"/>
            <a:ext cx="27249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1828800"/>
            <a:ext cx="54864" cy="134416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24028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13048" y="19385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GPS-Based Matching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813048" y="228600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nearest verified professionals in real time using smart location intelligence and availability status.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25896" y="1828800"/>
            <a:ext cx="27249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25896" y="1828800"/>
            <a:ext cx="54864" cy="1344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224028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65976" y="19385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Scheduling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665976" y="228600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today or tomorrow. AI confirms availability and sends WhatsApp/SMS confirmation to both parties.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20040" y="3310128"/>
            <a:ext cx="27249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0040" y="3310128"/>
            <a:ext cx="54864" cy="1344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721608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0120" y="341985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Grading System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60120" y="376732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worker is graded automatically on experience, satisfaction, and loyalty — building trust with every job.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172968" y="3310128"/>
            <a:ext cx="27249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172968" y="3310128"/>
            <a:ext cx="54864" cy="13441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984" y="3721608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13048" y="341985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Bonus Fund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813048" y="376732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every job and 1% of every supplier referral auto-credited — a micro-insurance fund unique to A2Z.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25896" y="3310128"/>
            <a:ext cx="2724912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025896" y="3310128"/>
            <a:ext cx="54864" cy="134416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3721608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65976" y="341985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Ecosystem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665976" y="376732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parts and materials from verified nearby suppliers directly through the platform — seamlessly integrated.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4 of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5 Simple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goes through this flow — powered by AI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05840" y="2011680"/>
            <a:ext cx="7132320" cy="0"/>
          </a:xfrm>
          <a:prstGeom prst="line">
            <a:avLst/>
          </a:prstGeom>
          <a:noFill/>
          <a:ln w="25400">
            <a:solidFill>
              <a:srgbClr val="BBDEF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13232" y="1078992"/>
            <a:ext cx="1152144" cy="1152144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316736"/>
            <a:ext cx="640080" cy="640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27632" y="1024128"/>
            <a:ext cx="310896" cy="310896"/>
          </a:xfrm>
          <a:prstGeom prst="ellipse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27632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450592"/>
            <a:ext cx="162763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78992" y="2542032"/>
            <a:ext cx="384048" cy="38404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" y="30175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" y="3438144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 or photo describing the problem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377440" y="1078992"/>
            <a:ext cx="1152144" cy="1152144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316736"/>
            <a:ext cx="640080" cy="6400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291840" y="1024128"/>
            <a:ext cx="310896" cy="310896"/>
          </a:xfrm>
          <a:prstGeom prst="ellipse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91840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121408" y="2450592"/>
            <a:ext cx="162763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743200" y="2542032"/>
            <a:ext cx="384048" cy="3840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74320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194560" y="30175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Classifies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194560" y="3438144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skill type &amp; nearest workers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041648" y="1078992"/>
            <a:ext cx="1152144" cy="11521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16736"/>
            <a:ext cx="640080" cy="64008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956048" y="1024128"/>
            <a:ext cx="310896" cy="310896"/>
          </a:xfrm>
          <a:prstGeom prst="ellipse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956048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785616" y="2450592"/>
            <a:ext cx="162763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407408" y="2542032"/>
            <a:ext cx="384048" cy="38404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407408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3858768" y="30175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Fetches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3858768" y="3438144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verified professionals surfaced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5705856" y="1078992"/>
            <a:ext cx="1152144" cy="1152144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1316736"/>
            <a:ext cx="640080" cy="64008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620256" y="1024128"/>
            <a:ext cx="310896" cy="310896"/>
          </a:xfrm>
          <a:prstGeom prst="ellipse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620256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449824" y="2450592"/>
            <a:ext cx="162763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6071616" y="2542032"/>
            <a:ext cx="384048" cy="38404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071616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5522976" y="30175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Confirms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5522976" y="3438144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time, AI books &amp; notifies worker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7370064" y="1078992"/>
            <a:ext cx="1152144" cy="115214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1316736"/>
            <a:ext cx="640080" cy="640080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8284464" y="1024128"/>
            <a:ext cx="310896" cy="310896"/>
          </a:xfrm>
          <a:prstGeom prst="ellipse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8284464" y="1024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7114032" y="2450592"/>
            <a:ext cx="162763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7735824" y="2542032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735824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7187184" y="30175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Complete</a:t>
            </a:r>
            <a:endParaRPr lang="en-US" sz="1100" dirty="0"/>
          </a:p>
        </p:txBody>
      </p:sp>
      <p:sp>
        <p:nvSpPr>
          <p:cNvPr id="51" name="Text 44"/>
          <p:cNvSpPr/>
          <p:nvPr/>
        </p:nvSpPr>
        <p:spPr>
          <a:xfrm>
            <a:off x="7187184" y="3438144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review &amp; bonus fund updated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5 of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A–Z Service Categories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categories — every skill, one platform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097280"/>
            <a:ext cx="1572768" cy="4754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61288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Repair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56816" y="1097280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56816" y="1097280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1161288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04288" y="11887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Beauticians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21024" y="1097280"/>
            <a:ext cx="1572768" cy="4754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161288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68496" y="11887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85232" y="1097280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1097280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6672" y="1161288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32704" y="11887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0" y="1097280"/>
            <a:ext cx="1572768" cy="4754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1161288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96912" y="11887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" y="1664208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2608" y="1664208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1728216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175564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Workers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56816" y="1664208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956816" y="1664208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8256" y="1728216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04288" y="175564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21024" y="1664208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21024" y="1664208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1728216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68496" y="175564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85232" y="1664208"/>
            <a:ext cx="1572768" cy="4754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76672" y="1728216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32704" y="175564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Networking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49440" y="1664208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49440" y="1664208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1728216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96912" y="175564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Janitors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2608" y="2231136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92608" y="2231136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2295144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23225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Technicians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56816" y="2231136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956816" y="2231136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48256" y="2295144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304288" y="23225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Locksmiths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21024" y="2231136"/>
            <a:ext cx="1572768" cy="4754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712464" y="2295144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968496" y="23225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85232" y="2231136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285232" y="2231136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76672" y="2295144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32704" y="23225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&amp; Care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49440" y="2231136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949440" y="2231136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40880" y="2295144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296912" y="23225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92608" y="2798064"/>
            <a:ext cx="1572768" cy="47548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84048" y="2862072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0080" y="288950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Painters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956816" y="2798064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956816" y="2798064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48256" y="2862072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304288" y="288950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21024" y="2798064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621024" y="2798064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12464" y="2862072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3968496" y="288950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Roofers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285232" y="2798064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285232" y="2798064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76672" y="2862072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32704" y="288950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949440" y="2798064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949440" y="2798064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40880" y="2862072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296912" y="288950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92608" y="3364992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292608" y="3364992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4048" y="3429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40080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1956816" y="3364992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1956816" y="3364992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048256" y="3429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2304288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Welders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621024" y="3364992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621024" y="3364992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12464" y="3429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3968496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Xtra Services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285232" y="3364992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5285232" y="3364992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376672" y="3429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5632704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Workers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949440" y="3364992"/>
            <a:ext cx="15727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6949440" y="3364992"/>
            <a:ext cx="54864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040880" y="342900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7296912" y="34564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Support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292608" y="4681728"/>
            <a:ext cx="182880" cy="16459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0352" y="4663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MVP Launch Priority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6 of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A2Z Three-Party Ecosystem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Service Professional · Supplier — connected by AI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77640" y="2331720"/>
            <a:ext cx="1188720" cy="914400"/>
          </a:xfrm>
          <a:prstGeom prst="ellipse">
            <a:avLst/>
          </a:prstGeom>
          <a:solidFill>
            <a:srgbClr val="0D2B5E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77640" y="2359152"/>
            <a:ext cx="1188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2788920"/>
            <a:ext cx="2542032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148072" y="2788920"/>
            <a:ext cx="2542032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0" y="3246120"/>
            <a:ext cx="0" cy="1097280"/>
          </a:xfrm>
          <a:prstGeom prst="line">
            <a:avLst/>
          </a:prstGeom>
          <a:noFill/>
          <a:ln w="19050">
            <a:solidFill>
              <a:srgbClr val="FF6B0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92608" y="1097280"/>
            <a:ext cx="2651760" cy="2926080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1097280"/>
            <a:ext cx="2651760" cy="4937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188720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4672" y="118872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2336" y="160934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/ Business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8912" y="1901952"/>
            <a:ext cx="164592" cy="16459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" y="18745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problem via text, voice, photo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8912" y="2359152"/>
            <a:ext cx="164592" cy="16459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" y="23317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matched to nearest verified worker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8912" y="2816352"/>
            <a:ext cx="164592" cy="16459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" y="27889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parts through supplier network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8912" y="3273552"/>
            <a:ext cx="164592" cy="16459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" y="32461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and reviews after every job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907792" y="1920240"/>
            <a:ext cx="2651760" cy="2926080"/>
          </a:xfrm>
          <a:prstGeom prst="rect">
            <a:avLst/>
          </a:prstGeom>
          <a:solidFill>
            <a:srgbClr val="FFF3E0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907792" y="1920240"/>
            <a:ext cx="2651760" cy="4937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011680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419856" y="201168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 PROFESSIONAL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017520" y="24323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Worker / Mistri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054096" y="2724912"/>
            <a:ext cx="164592" cy="16459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291840" y="26974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AI-matched job requests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054096" y="3182112"/>
            <a:ext cx="164592" cy="16459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91840" y="31546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reputation via grading system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054096" y="3639312"/>
            <a:ext cx="164592" cy="16459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91840" y="36118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through jobs + Bonus Fund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3054096" y="4096512"/>
            <a:ext cx="164592" cy="16459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291840" y="40690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from individual to company status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5321808" y="1097280"/>
            <a:ext cx="2651760" cy="2926080"/>
          </a:xfrm>
          <a:prstGeom prst="rect">
            <a:avLst/>
          </a:prstGeom>
          <a:solidFill>
            <a:srgbClr val="E0F2F1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321808" y="1097280"/>
            <a:ext cx="2651760" cy="4937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1188720"/>
            <a:ext cx="310896" cy="310896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833872" y="118872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SUPPLIER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5431536" y="160934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&amp; Materials Seller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468112" y="190195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05856" y="18745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products on the platform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5468112" y="235915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5705856" y="23317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referrals from active jobs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468112" y="281635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05856" y="27889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2% per sale, platform keeps 1%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5468112" y="327355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705856" y="324612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and quality-checked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7 of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Model — 3 Streams + Worker Bonus Fund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051560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51560"/>
            <a:ext cx="2724912" cy="53035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1155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078992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Fee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" y="1700784"/>
            <a:ext cx="246888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" y="17190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 10 / Request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20624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to: Customer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0624" y="259689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fee charged per service request. Covers AI matching and platform operations.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4048" y="3547872"/>
            <a:ext cx="2542032" cy="658368"/>
          </a:xfrm>
          <a:prstGeom prst="rect">
            <a:avLst/>
          </a:prstGeom>
          <a:solidFill>
            <a:srgbClr val="42A5F5">
              <a:alpha val="12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" y="3566160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→ Skill-Sewa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45536" y="1051560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45536" y="1051560"/>
            <a:ext cx="2724912" cy="5303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11556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94176" y="1078992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Commission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73552" y="1700784"/>
            <a:ext cx="246888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73552" y="17190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 of Job Value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273552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Worker's earnings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273552" y="259689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commission on every completed job. Split equally between platform and Bonus Fund.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236976" y="3547872"/>
            <a:ext cx="2542032" cy="658368"/>
          </a:xfrm>
          <a:prstGeom prst="rect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55264" y="3566160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Platform  +  5% Bonus Fund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98464" y="1051560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998464" y="1051560"/>
            <a:ext cx="2724912" cy="5303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115568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47104" y="1078992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Referral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126480" y="1700784"/>
            <a:ext cx="2468880" cy="47548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126480" y="17190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2% of Parts Sale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Supplier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126480" y="259689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customer buys parts through the platform, supplier pays a 2% referral fee.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089904" y="3547872"/>
            <a:ext cx="2542032" cy="658368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108192" y="3566160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Platform  +  1% Bonus Fund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8 of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 Bonus Fund — Our Differentiator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platform in Nepal looks after its workers like this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051560"/>
            <a:ext cx="4663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51560"/>
            <a:ext cx="4663440" cy="4572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0881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Worker Bonus Fund?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66420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6367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micro-insurance and emergency reserve for workers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396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1122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every service commission auto-credited to worker fund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61518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5877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of every supplier referral also credited to worker fund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09067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3063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can withdraw accumulated balance anytime (min Rs. 500)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56616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35387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transparently by company rules and policy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041648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2960" y="40142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financial safety net unavailable elsewhere in Nepal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5212080" y="1051560"/>
            <a:ext cx="3639312" cy="374904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5349240" y="114300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 Flow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5394960" y="1645920"/>
            <a:ext cx="3273552" cy="34747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413248" y="168249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Commission 10%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394960" y="2048256"/>
            <a:ext cx="1536192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413248" y="20756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→ Skill-Sewa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7095744" y="2048256"/>
            <a:ext cx="1536192" cy="43891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114032" y="20756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→ Bonus Fund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5394960" y="3035808"/>
            <a:ext cx="3273552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413248" y="307238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Referral 2%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394960" y="3438144"/>
            <a:ext cx="1536192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2A509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413248" y="346557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→ Skill-Sewa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7095744" y="3438144"/>
            <a:ext cx="1536192" cy="43891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7114032" y="346557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→ Bonus Fund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925312" y="3977640"/>
            <a:ext cx="2286000" cy="56692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943600" y="400507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Withdraws Anytime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9 of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 Progression System — From Skill to Company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grade grows with every job you complete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skilled individual to a verified company — all within A2Z Skill-Sewa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926080"/>
            <a:ext cx="7589520" cy="0"/>
          </a:xfrm>
          <a:prstGeom prst="line">
            <a:avLst/>
          </a:prstGeom>
          <a:noFill/>
          <a:ln w="25400">
            <a:solidFill>
              <a:srgbClr val="BBDEF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1097280" cy="1097280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55648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2608" y="2743200"/>
            <a:ext cx="1645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2743200"/>
            <a:ext cx="1645920" cy="5486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834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6E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BEGINNER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321868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ID Verified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36941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 Platform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" y="4279392"/>
            <a:ext cx="1371600" cy="411480"/>
          </a:xfrm>
          <a:prstGeom prst="rect">
            <a:avLst/>
          </a:prstGeom>
          <a:solidFill>
            <a:srgbClr val="546E7A">
              <a:alpha val="15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4297680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jobs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1417320"/>
            <a:ext cx="1097280" cy="10972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0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1645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0" y="2743200"/>
            <a:ext cx="1645920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2834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66544" y="321868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Jobs  ·  4.0★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66544" y="36941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 + Priority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48840" y="4279392"/>
            <a:ext cx="1371600" cy="411480"/>
          </a:xfrm>
          <a:prstGeom prst="rect">
            <a:avLst/>
          </a:prstGeom>
          <a:solidFill>
            <a:srgbClr val="42A5F5">
              <a:alpha val="15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4297680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jobs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05072" y="1417320"/>
            <a:ext cx="1097280" cy="109728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05072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93792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730752" y="2743200"/>
            <a:ext cx="1645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30752" y="2743200"/>
            <a:ext cx="164592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2834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85616" y="321868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Jobs  ·  4.5★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785616" y="36941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+ Orange Badge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67912" y="4279392"/>
            <a:ext cx="1371600" cy="411480"/>
          </a:xfrm>
          <a:prstGeom prst="rect">
            <a:avLst/>
          </a:prstGeom>
          <a:solidFill>
            <a:srgbClr val="FF6B00">
              <a:alpha val="15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67912" y="4297680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jobs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24144" y="1417320"/>
            <a:ext cx="1097280" cy="10972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24144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12864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449824" y="2743200"/>
            <a:ext cx="1645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49824" y="2743200"/>
            <a:ext cx="164592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9824" y="2834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04688" y="321868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Jobs  ·  4.8★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04688" y="36941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Badge + Premium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86984" y="4279392"/>
            <a:ext cx="1371600" cy="411480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6984" y="4297680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jobs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43216" y="1417320"/>
            <a:ext cx="1097280" cy="1097280"/>
          </a:xfrm>
          <a:prstGeom prst="ellipse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443216" y="1417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168896" y="2743200"/>
            <a:ext cx="1645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168896" y="2743200"/>
            <a:ext cx="1645920" cy="54864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68896" y="2834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223760" y="321868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Only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223760" y="36941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+ Team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06056" y="4279392"/>
            <a:ext cx="1371600" cy="411480"/>
          </a:xfrm>
          <a:prstGeom prst="rect">
            <a:avLst/>
          </a:prstGeom>
          <a:solidFill>
            <a:srgbClr val="0D2B5E">
              <a:alpha val="15000"/>
            </a:srgbClr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06056" y="4297680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0040" y="484632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by:  Work Experience  ·  Customer Satisfaction  ·  Platform Loyalty  ·  Response Rate  ·  Completion Rate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10 of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Nepal? Why Now? Why A2Z?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051560"/>
            <a:ext cx="2011680" cy="15727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0972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3.5M+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" y="1883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Kathmandu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Population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2011680" cy="157276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972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883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Nepal's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Workforce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45152" y="1051560"/>
            <a:ext cx="2011680" cy="15727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10972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 2B+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36592" y="1883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Services/Year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21424" y="1051560"/>
            <a:ext cx="2011680" cy="157276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21424" y="10972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12864" y="18836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 S. Asia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2834640"/>
            <a:ext cx="855878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2834640"/>
            <a:ext cx="8558784" cy="402336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87121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Nepal — Why Now</a:t>
            </a:r>
            <a:endParaRPr lang="en-US" sz="13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383280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337413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penetration rising rapidly across Kathmandu Valley</a:t>
            </a:r>
            <a:endParaRPr lang="en-US" sz="10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3383280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029200" y="337413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economy expanding but completely unorganised and undigitised</a:t>
            </a:r>
            <a:endParaRPr lang="en-US" sz="10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840480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1520" y="383133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player — first-mover advantage wide open</a:t>
            </a:r>
            <a:endParaRPr lang="en-US" sz="10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84048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29200" y="383133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pushing digital economy and employment formalisation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11 of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Strategy — 3 Phases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pilot → Full Kathmandu → Regional expansion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051560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51560"/>
            <a:ext cx="2724912" cy="6400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78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35331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181051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Kathmandu Pilot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155448" cy="1554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2860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10–15 verified service providers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155448" cy="1554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78892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2–3 KTM neighbourhoods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155448" cy="1554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29184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AI chat booking live on web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155448" cy="1554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79476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user feedback &amp; iterate fast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45536" y="1051560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051560"/>
            <a:ext cx="2724912" cy="6400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1078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55264" y="135331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55264" y="181051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Kathmandu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10128" y="2322576"/>
            <a:ext cx="155448" cy="15544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22860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full Kathmandu Valley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2825496"/>
            <a:ext cx="155448" cy="15544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78892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GPS matching + eSewa/Khalti payment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3328416"/>
            <a:ext cx="155448" cy="15544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29184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network integration (Phase 1 manual)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3831336"/>
            <a:ext cx="155448" cy="15544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379476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&amp; compliance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98464" y="1051560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98464" y="1051560"/>
            <a:ext cx="2724912" cy="640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1078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08192" y="135331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9–18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08192" y="181051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Growth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63056" y="2322576"/>
            <a:ext cx="155448" cy="15544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28600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Expand: Pokhara, Biratnagar, Chitwan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63056" y="2825496"/>
            <a:ext cx="155448" cy="15544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278892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mobile app launch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63056" y="3328416"/>
            <a:ext cx="155448" cy="15544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29184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supplier partnerships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63056" y="3831336"/>
            <a:ext cx="155448" cy="15544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379476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preparation &amp; investor pitch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12 of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Founding Team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team. Big mission. Moving fast.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234440"/>
            <a:ext cx="914400" cy="9144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46304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Saugat Nepal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88720" y="2907792"/>
            <a:ext cx="109728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" y="30175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 behind A2Z Skill-Sewa. Drives strategy, business development, investor relations, and go-to-market execution across Nepal.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09728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0" y="1234440"/>
            <a:ext cx="914400" cy="91440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304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1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3756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023360" y="2907792"/>
            <a:ext cx="1097280" cy="457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74136" y="30175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building the AI platform, backend services, and API integrations powering the Skill-Sewa ecosystem.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80760" y="109728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949440" y="1234440"/>
            <a:ext cx="914400" cy="9144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463040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220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2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17220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58000" y="2907792"/>
            <a:ext cx="109728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08776" y="30175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app development. Building the user interface, web experience, and customer/worker-facing product screens.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48640" y="4681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Growing to 10–15 members — seeking: Sales Lead · Operations Manager · Community Field Agents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13 of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Outlook &amp; Legal Roadmap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92608" y="1078992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50992" y="1051560"/>
            <a:ext cx="3200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50992" y="1051560"/>
            <a:ext cx="3200400" cy="40233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088136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Roadmap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1600200"/>
            <a:ext cx="310896" cy="310896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72200" y="1581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Private Limited (Company Act, Nepal)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2075688"/>
            <a:ext cx="310896" cy="310896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7220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PAN/VAT from IRD for tax compliance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2551176"/>
            <a:ext cx="310896" cy="310896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7220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digital business licence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60720" y="3026664"/>
            <a:ext cx="310896" cy="310896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72200" y="30083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Labour — worker welfare registration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60720" y="3502152"/>
            <a:ext cx="310896" cy="310896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72200" y="3483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eSewa/Khalti payment gateway (NRB compliant)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92608" y="4416552"/>
            <a:ext cx="855878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0624" y="44531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Conservative estimates based on pilot market assumptions. Actual figures subject to market validation.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14 of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Are Seeking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audiences. Three clear asks.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051560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51560"/>
            <a:ext cx="2724912" cy="56692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11556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11556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/ VCs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2336" y="1737360"/>
            <a:ext cx="2505456" cy="38404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336" y="175564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Seed: Rs. 15–25 Lakhs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" y="2249424"/>
            <a:ext cx="2432304" cy="512064"/>
          </a:xfrm>
          <a:prstGeom prst="rect">
            <a:avLst/>
          </a:prstGeom>
          <a:solidFill>
            <a:srgbClr val="42A5F5">
              <a:alpha val="10000"/>
            </a:srgbClr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32257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" y="228600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infra &amp; server build-out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8912" y="2852928"/>
            <a:ext cx="2432304" cy="512064"/>
          </a:xfrm>
          <a:prstGeom prst="rect">
            <a:avLst/>
          </a:prstGeom>
          <a:solidFill>
            <a:srgbClr val="42A5F5">
              <a:alpha val="10000"/>
            </a:srgbClr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92608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2889504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customer acquisition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38912" y="3456432"/>
            <a:ext cx="2432304" cy="512064"/>
          </a:xfrm>
          <a:prstGeom prst="rect">
            <a:avLst/>
          </a:prstGeom>
          <a:solidFill>
            <a:srgbClr val="42A5F5">
              <a:alpha val="10000"/>
            </a:srgbClr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529584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4672" y="349300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expansion (3–5 new hires)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38912" y="4059936"/>
            <a:ext cx="2432304" cy="512064"/>
          </a:xfrm>
          <a:prstGeom prst="rect">
            <a:avLst/>
          </a:prstGeom>
          <a:solidFill>
            <a:srgbClr val="42A5F5">
              <a:alpha val="10000"/>
            </a:srgbClr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133088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4672" y="4096512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registration &amp; compliance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145536" y="1051560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145536" y="1051560"/>
            <a:ext cx="2724912" cy="5669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264" y="111556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75888" y="111556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3255264" y="1737360"/>
            <a:ext cx="2505456" cy="38404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255264" y="175564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&amp; Facilitation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3291840" y="2249424"/>
            <a:ext cx="2432304" cy="512064"/>
          </a:xfrm>
          <a:prstGeom prst="rect">
            <a:avLst/>
          </a:prstGeom>
          <a:solidFill>
            <a:srgbClr val="FF6B00">
              <a:alpha val="10000"/>
            </a:srgbClr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322576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657600" y="228600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digital business registration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3291840" y="2852928"/>
            <a:ext cx="2432304" cy="512064"/>
          </a:xfrm>
          <a:prstGeom prst="rect">
            <a:avLst/>
          </a:prstGeom>
          <a:solidFill>
            <a:srgbClr val="FF6B00">
              <a:alpha val="10000"/>
            </a:srgbClr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2926080"/>
            <a:ext cx="219456" cy="21945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657600" y="2889504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welfare programme collaboration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291840" y="3456432"/>
            <a:ext cx="2432304" cy="512064"/>
          </a:xfrm>
          <a:prstGeom prst="rect">
            <a:avLst/>
          </a:prstGeom>
          <a:solidFill>
            <a:srgbClr val="FF6B00">
              <a:alpha val="10000"/>
            </a:srgbClr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4992" y="3529584"/>
            <a:ext cx="219456" cy="219456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657600" y="349300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as digital employment platform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3291840" y="4059936"/>
            <a:ext cx="2432304" cy="512064"/>
          </a:xfrm>
          <a:prstGeom prst="rect">
            <a:avLst/>
          </a:prstGeom>
          <a:solidFill>
            <a:srgbClr val="FF6B00">
              <a:alpha val="10000"/>
            </a:srgbClr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4992" y="4133088"/>
            <a:ext cx="219456" cy="219456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3657600" y="4096512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under digital economy initiatives</a:t>
            </a:r>
            <a:endParaRPr lang="en-US" sz="1000" dirty="0"/>
          </a:p>
        </p:txBody>
      </p:sp>
      <p:sp>
        <p:nvSpPr>
          <p:cNvPr id="42" name="Shape 30"/>
          <p:cNvSpPr/>
          <p:nvPr/>
        </p:nvSpPr>
        <p:spPr>
          <a:xfrm>
            <a:off x="5998464" y="1051560"/>
            <a:ext cx="27249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Shape 31"/>
          <p:cNvSpPr/>
          <p:nvPr/>
        </p:nvSpPr>
        <p:spPr>
          <a:xfrm>
            <a:off x="5998464" y="1051560"/>
            <a:ext cx="2724912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8192" y="1115568"/>
            <a:ext cx="329184" cy="329184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528816" y="111556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/ Lenders</a:t>
            </a:r>
            <a:endParaRPr lang="en-US" sz="1200" dirty="0"/>
          </a:p>
        </p:txBody>
      </p:sp>
      <p:sp>
        <p:nvSpPr>
          <p:cNvPr id="46" name="Shape 33"/>
          <p:cNvSpPr/>
          <p:nvPr/>
        </p:nvSpPr>
        <p:spPr>
          <a:xfrm>
            <a:off x="6108192" y="1737360"/>
            <a:ext cx="2505456" cy="38404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6108192" y="175564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 Capital: Rs. 5–10L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6144768" y="2249424"/>
            <a:ext cx="2432304" cy="512064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0" y="2322576"/>
            <a:ext cx="219456" cy="219456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6510528" y="2286000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Collateral: platform assets &amp; revenue</a:t>
            </a:r>
            <a:endParaRPr lang="en-US" sz="1000" dirty="0"/>
          </a:p>
        </p:txBody>
      </p:sp>
      <p:sp>
        <p:nvSpPr>
          <p:cNvPr id="51" name="Shape 37"/>
          <p:cNvSpPr/>
          <p:nvPr/>
        </p:nvSpPr>
        <p:spPr>
          <a:xfrm>
            <a:off x="6144768" y="2852928"/>
            <a:ext cx="2432304" cy="512064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0" y="2926080"/>
            <a:ext cx="219456" cy="219456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6510528" y="2889504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 repayment horizon</a:t>
            </a:r>
            <a:endParaRPr lang="en-US" sz="1000" dirty="0"/>
          </a:p>
        </p:txBody>
      </p:sp>
      <p:sp>
        <p:nvSpPr>
          <p:cNvPr id="54" name="Shape 39"/>
          <p:cNvSpPr/>
          <p:nvPr/>
        </p:nvSpPr>
        <p:spPr>
          <a:xfrm>
            <a:off x="6144768" y="3456432"/>
            <a:ext cx="2432304" cy="512064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3529584"/>
            <a:ext cx="219456" cy="219456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6510528" y="349300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ops, onboarding &amp; marketing</a:t>
            </a:r>
            <a:endParaRPr lang="en-US" sz="1000" dirty="0"/>
          </a:p>
        </p:txBody>
      </p:sp>
      <p:sp>
        <p:nvSpPr>
          <p:cNvPr id="57" name="Shape 41"/>
          <p:cNvSpPr/>
          <p:nvPr/>
        </p:nvSpPr>
        <p:spPr>
          <a:xfrm>
            <a:off x="6144768" y="4059936"/>
            <a:ext cx="2432304" cy="512064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920" y="4133088"/>
            <a:ext cx="219456" cy="219456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6510528" y="4096512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tied to revenue milestones</a:t>
            </a:r>
            <a:endParaRPr lang="en-US" sz="1000" dirty="0"/>
          </a:p>
        </p:txBody>
      </p:sp>
      <p:sp>
        <p:nvSpPr>
          <p:cNvPr id="60" name="Shape 4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61" name="Text 4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8640" algn="l"/>
              </a:tabLst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A2Z Skill-Sewa  |  AI-Powered Local Manpower Connector  |  15 of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40080"/>
            <a:ext cx="1280160" cy="1280160"/>
          </a:xfrm>
          <a:prstGeom prst="ellipse">
            <a:avLst/>
          </a:prstGeom>
          <a:solidFill>
            <a:srgbClr val="1A3A6E"/>
          </a:solidFill>
          <a:ln w="25400">
            <a:solidFill>
              <a:srgbClr val="FF6B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9611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214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A2Z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40080" y="263347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Skill-Sewa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316382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सेवा · Skill · Service  ·  A to Z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62102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Nepal's workforce — together.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133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skillsewa-fe.vercel.app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support@skillsewa.com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E45"/>
          </a:solidFill>
          <a:ln w="12700">
            <a:solidFill>
              <a:srgbClr val="0A1E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782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Investor &amp; Stakeholder Use Only  |  Kathmandu, Nepal  |  2025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1005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58368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A2Z Skill-Sewa — AI-Powered Local Manpower Connector</dc:title>
  <dc:subject>PptxGenJS Presentation</dc:subject>
  <dc:creator>PptxGenJS</dc:creator>
  <cp:lastModifiedBy>PptxGenJS</cp:lastModifiedBy>
  <cp:revision>1</cp:revision>
  <dcterms:created xsi:type="dcterms:W3CDTF">2026-03-22T06:15:31Z</dcterms:created>
  <dcterms:modified xsi:type="dcterms:W3CDTF">2026-03-22T06:15:31Z</dcterms:modified>
</cp:coreProperties>
</file>